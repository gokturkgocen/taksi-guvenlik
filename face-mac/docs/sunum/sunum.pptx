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6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0"/>
            <a:ext cx="548640" cy="5143500"/>
          </a:xfrm>
          <a:prstGeom prst="rect">
            <a:avLst/>
          </a:prstGeom>
          <a:solidFill>
            <a:srgbClr val="8C631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500" kern="0" dirty="0">
                <a:solidFill>
                  <a:srgbClr val="B886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LİSANS BİTİRME PROJESİ · 2025–2026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Yüz Tanıma Tabanlı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Sürücü Güvenlik ve Acil Durum Bildirim Sistemi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8B8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Driver Safety and Emergency Notification System Based on Facial Recognition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383280"/>
            <a:ext cx="1828800" cy="0"/>
          </a:xfrm>
          <a:prstGeom prst="line">
            <a:avLst/>
          </a:prstGeom>
          <a:noFill/>
          <a:ln w="25400">
            <a:solidFill>
              <a:srgbClr val="8C63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6118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Ekin Ağaoğlu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B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Danışman: Prof. Dr. Aydoğan Savran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Ege Üniversitesi · Elektrik-Elektronik Mühendisliği Bölümü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B886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Mayıs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EC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C6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GÜNDEM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Sunum Akışı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914400" cy="0"/>
          </a:xfrm>
          <a:prstGeom prst="line">
            <a:avLst/>
          </a:prstGeom>
          <a:noFill/>
          <a:ln w="25400">
            <a:solidFill>
              <a:srgbClr val="8C63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544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6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15544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ve motivasyon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6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9659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Literatür ve tasarım kararları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6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23774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 mimarisi ve veri akışı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27889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6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27889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Donanım ve yazılım gerçeklemesi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32004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6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32004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Sürücü uygulaması + kullanıcı yönetimi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3611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6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36118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Ölçüm planı ve sonuçlar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4023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6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40233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Sonuç ve gelecek çalışmalar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47548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Ekin Ağaoğlu  ·  Bitirme Sunumu  ·  Sunum Akışı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04672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21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869680" y="0"/>
            <a:ext cx="274320" cy="5143500"/>
          </a:xfrm>
          <a:prstGeom prst="rect">
            <a:avLst/>
          </a:prstGeom>
          <a:solidFill>
            <a:srgbClr val="8C631A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EC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C6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Taksilerde Sürücü Güvenliği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914400" cy="0"/>
          </a:xfrm>
          <a:prstGeom prst="line">
            <a:avLst/>
          </a:prstGeom>
          <a:noFill/>
          <a:ln w="25400">
            <a:solidFill>
              <a:srgbClr val="8C63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544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C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Mevcut çözümlerin eksikleri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3931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Yolcu kimliği önceden doğrulanmıyor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Panik buton + GPS olay sonrası bilgi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Sürücünün aktif eylem gerektiren sistemler dikkat dağıtıcı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554480"/>
            <a:ext cx="3657600" cy="2743200"/>
          </a:xfrm>
          <a:prstGeom prst="rect">
            <a:avLst/>
          </a:prstGeom>
          <a:solidFill>
            <a:srgbClr val="11162A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691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İki temel ihtiyaç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2103120"/>
            <a:ext cx="3291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C6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8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Caydırıcı bir kimlik doğrulama altyapısı</a:t>
            </a:r>
            <a:endParaRPr lang="en-US" sz="28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 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8C6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8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Sürücünün dikkatini bozmayan otomatik bildirim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47548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Ekin Ağaoğlu  ·  Bitirme Sunumu  ·  Problem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04672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869680" y="0"/>
            <a:ext cx="274320" cy="5143500"/>
          </a:xfrm>
          <a:prstGeom prst="rect">
            <a:avLst/>
          </a:prstGeom>
          <a:solidFill>
            <a:srgbClr val="8C631A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EC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C6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TASARIM HEDEFLERI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Başarı Ölçütleri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914400" cy="0"/>
          </a:xfrm>
          <a:prstGeom prst="line">
            <a:avLst/>
          </a:prstGeom>
          <a:noFill/>
          <a:ln w="25400">
            <a:solidFill>
              <a:srgbClr val="8C63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087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Uçtan uca tanıma gecikmesi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480560" y="1508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C2A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≤ 7 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035040" y="15087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karelik burst, Wi-Fi ≥ 10 Mbps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Eşit Hata Oranı (EER)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480560" y="20116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C2A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≤ 5 %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03504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küçültülmüş test seti üzerinde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5146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Aydınlatma aralığı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80560" y="25146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C2A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100–600 lx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035040" y="2514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alacakaranlık → gün ışığı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0175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Yolcu–kamera mesafesi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80560" y="30175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C2A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30–120 cm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035040" y="3017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yakın / orta / uzak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5204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Acil çağrı dialer açılma süresi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80560" y="3520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C2A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≤ 3 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035040" y="3520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kararından itibaren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Ek donanım maliyeti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480560" y="4023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C2A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≤ 500 TL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035040" y="4023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 kartı hariç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7548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Ekin Ağaoğlu  ·  Bitirme Sunumu  ·  Tasarım Hedefleri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04672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21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869680" y="0"/>
            <a:ext cx="274320" cy="5143500"/>
          </a:xfrm>
          <a:prstGeom prst="rect">
            <a:avLst/>
          </a:prstGeom>
          <a:solidFill>
            <a:srgbClr val="8C631A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EC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C6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LITERATÜR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Yüz Tanıma: Yöntem Seçimi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914400" cy="0"/>
          </a:xfrm>
          <a:prstGeom prst="line">
            <a:avLst/>
          </a:prstGeom>
          <a:noFill/>
          <a:ln w="25400">
            <a:solidFill>
              <a:srgbClr val="8C63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40233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0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C6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Seçilen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InsightFace buffalo_l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1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Açık kaynak (Apache 2)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1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RetinaFace + ArcFace-R100 (Glint360K)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1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512-D embedding, kosinüs benzerliği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1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ve eşik bizim kontrolümüzde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1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KVKK uyumu doğal: veri kendi sunucumuzda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554480"/>
            <a:ext cx="4023360" cy="2743200"/>
          </a:xfrm>
          <a:prstGeom prst="rect">
            <a:avLst/>
          </a:prstGeom>
          <a:solidFill>
            <a:srgbClr val="EFE5D2"/>
          </a:solidFill>
          <a:ln w="12700">
            <a:solidFill>
              <a:srgbClr val="C9C0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C2A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Reddedilen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46320" y="19659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Kapalı kutu bulut API'ları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46320" y="242316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1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Rekognition, Azure Face, Face++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1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KVKK belirsizliği (veri yurt dışına)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1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Eşik / model kontrolümüzde değil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1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Fiyat değişikliği / kapatma riski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1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FAR/FRR tezde dolgun savunma yok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7548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Ekin Ağaoğlu  ·  Bitirme Sunumu  ·  Literatür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04672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21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869680" y="0"/>
            <a:ext cx="274320" cy="5143500"/>
          </a:xfrm>
          <a:prstGeom prst="rect">
            <a:avLst/>
          </a:prstGeom>
          <a:solidFill>
            <a:srgbClr val="8C631A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EC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C6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KARARLAR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Tek Snapshot vs. 10-Frame Burst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914400" cy="0"/>
          </a:xfrm>
          <a:prstGeom prst="line">
            <a:avLst/>
          </a:prstGeom>
          <a:noFill/>
          <a:ln w="25400">
            <a:solidFill>
              <a:srgbClr val="8C63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4023360" cy="2743200"/>
          </a:xfrm>
          <a:prstGeom prst="rect">
            <a:avLst/>
          </a:prstGeom>
          <a:solidFill>
            <a:srgbClr val="EFE5D2"/>
          </a:solidFill>
          <a:ln w="12700">
            <a:solidFill>
              <a:srgbClr val="C9C0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C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Tek-shot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1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Hareket bulanıklığına duyarlı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1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Kırpılan veya yan duran yüze duyarlı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1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ışık değişimi sonucu bozar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1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Canlılık sinyali yok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1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replay saldırısına açık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554480"/>
            <a:ext cx="402336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3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C6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Seçilen: 10-frame burst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46320" y="2103120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1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FPS × 2 s = 10 kare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1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Per-frame kalite filtresi (det, alan, yaw, blur)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1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Geçen kare ≥ 5 → embedding centroid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1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Cross-frame σ → bedava pasif canlılık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1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Maliyet: ~5–7 s gecikme, biniş başına bir kez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7548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Ekin Ağaoğlu  ·  Bitirme Sunumu  ·  Kararlar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04672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21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869680" y="0"/>
            <a:ext cx="274320" cy="5143500"/>
          </a:xfrm>
          <a:prstGeom prst="rect">
            <a:avLst/>
          </a:prstGeom>
          <a:solidFill>
            <a:srgbClr val="8C631A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EC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C6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KARARLAR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Acil Çağrı: BLE Köprü vs. GSM Modülü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914400" cy="0"/>
          </a:xfrm>
          <a:prstGeom prst="line">
            <a:avLst/>
          </a:prstGeom>
          <a:noFill/>
          <a:ln w="25400">
            <a:solidFill>
              <a:srgbClr val="8C63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4023360" cy="2743200"/>
          </a:xfrm>
          <a:prstGeom prst="rect">
            <a:avLst/>
          </a:prstGeom>
          <a:solidFill>
            <a:srgbClr val="EFE5D2"/>
          </a:solidFill>
          <a:ln w="12700">
            <a:solidFill>
              <a:srgbClr val="C9C0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C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GSM modülü (SIM800/7600)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1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Donanım maliyeti ≥ 250 TL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1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Ayrı SIM kart yönetimi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1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Operatör onay süreci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1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Anten/sinyal düzenleme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1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Ek yazılım kütüphanesi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554480"/>
            <a:ext cx="4023360" cy="274320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3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C6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Seçilen: ESP32-CAM BLE + iPhone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2103120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1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Sürücünün telefonu zaten arabada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1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 BLE modülü gerek yok — entegre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1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iPhone: tel://155 dialer otomatik açılır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1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dokunuş ≡ yanlış pozitif arama koruması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1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Sıfır operatör bağımlılığı, sıfır SIM yönetimi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7548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Ekin Ağaoğlu  ·  Bitirme Sunumu  ·  Kararlar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04672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21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869680" y="0"/>
            <a:ext cx="274320" cy="5143500"/>
          </a:xfrm>
          <a:prstGeom prst="rect">
            <a:avLst/>
          </a:prstGeom>
          <a:solidFill>
            <a:srgbClr val="8C631A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EC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C6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SISTEM MIMARISI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Uçtan Uca Mimari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914400" cy="0"/>
          </a:xfrm>
          <a:prstGeom prst="line">
            <a:avLst/>
          </a:prstGeom>
          <a:noFill/>
          <a:ln w="25400">
            <a:solidFill>
              <a:srgbClr val="8C63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2011680" cy="1005840"/>
          </a:xfrm>
          <a:prstGeom prst="rect">
            <a:avLst/>
          </a:prstGeom>
          <a:solidFill>
            <a:srgbClr val="11162A"/>
          </a:solidFill>
          <a:ln/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691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ESP32-CAM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057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kamera + Wi-Fi + BLE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0" y="1554480"/>
            <a:ext cx="1554480" cy="1005840"/>
          </a:xfrm>
          <a:prstGeom prst="rect">
            <a:avLst/>
          </a:prstGeom>
          <a:solidFill>
            <a:srgbClr val="5B6075"/>
          </a:solidFill>
          <a:ln/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1691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Wi-Fi 2.4 GHz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91840" y="2057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hotspot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0" y="1554480"/>
            <a:ext cx="2926080" cy="1005840"/>
          </a:xfrm>
          <a:prstGeom prst="rect">
            <a:avLst/>
          </a:prstGeom>
          <a:solidFill>
            <a:srgbClr val="9C2A21"/>
          </a:solidFill>
          <a:ln/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577840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EC2 (Flask)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577840" y="2057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InsightFace + /auth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468880" y="2057400"/>
            <a:ext cx="731520" cy="0"/>
          </a:xfrm>
          <a:prstGeom prst="line">
            <a:avLst/>
          </a:prstGeom>
          <a:noFill/>
          <a:ln w="19050">
            <a:solidFill>
              <a:srgbClr val="11162A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2286000" y="17830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0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JPEG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754880" y="2057400"/>
            <a:ext cx="731520" cy="0"/>
          </a:xfrm>
          <a:prstGeom prst="line">
            <a:avLst/>
          </a:prstGeom>
          <a:noFill/>
          <a:ln w="19050">
            <a:solidFill>
              <a:srgbClr val="11162A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4572000" y="17830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0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7200" y="3337560"/>
            <a:ext cx="2011680" cy="1005840"/>
          </a:xfrm>
          <a:prstGeom prst="rect">
            <a:avLst/>
          </a:prstGeom>
          <a:solidFill>
            <a:srgbClr val="11162A"/>
          </a:solidFill>
          <a:ln/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" y="3474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STM32 F767ZI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3840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olay yöneticisi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43600" y="3337560"/>
            <a:ext cx="2468880" cy="1005840"/>
          </a:xfrm>
          <a:prstGeom prst="rect">
            <a:avLst/>
          </a:prstGeom>
          <a:solidFill>
            <a:srgbClr val="8C631A"/>
          </a:solidFill>
          <a:ln/>
          <a:effectLst>
            <a:outerShdw sx="100000" sy="100000" kx="0" ky="0" algn="bl" rotWithShape="0" blurRad="101600" dist="25400" dir="81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035040" y="34747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iPhone (SwiftUI)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035040" y="3840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tel:// dialer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463040" y="2560320"/>
            <a:ext cx="0" cy="777240"/>
          </a:xfrm>
          <a:prstGeom prst="line">
            <a:avLst/>
          </a:prstGeom>
          <a:noFill/>
          <a:ln w="19050">
            <a:solidFill>
              <a:srgbClr val="11162A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914400" y="29032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0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USART6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468880" y="3840480"/>
            <a:ext cx="3474720" cy="0"/>
          </a:xfrm>
          <a:prstGeom prst="line">
            <a:avLst/>
          </a:prstGeom>
          <a:noFill/>
          <a:ln w="19050">
            <a:solidFill>
              <a:srgbClr val="11162A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3657600" y="356616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0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BLE FFE0/FFE1 · MTU 247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132320" y="3337560"/>
            <a:ext cx="0" cy="-777240"/>
          </a:xfrm>
          <a:prstGeom prst="line">
            <a:avLst/>
          </a:prstGeom>
          <a:noFill/>
          <a:ln w="19050">
            <a:solidFill>
              <a:srgbClr val="11162A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6583680" y="29032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60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/auth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57200" y="47548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Ekin Ağaoğlu  ·  Bitirme Sunumu  ·  Sistem Mimarisi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04672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21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869680" y="0"/>
            <a:ext cx="274320" cy="5143500"/>
          </a:xfrm>
          <a:prstGeom prst="rect">
            <a:avLst/>
          </a:prstGeom>
          <a:solidFill>
            <a:srgbClr val="8C631A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EC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C6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SISTEM MIMARISI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 Akışı — 10-Frame Burst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914400" cy="0"/>
          </a:xfrm>
          <a:prstGeom prst="line">
            <a:avLst/>
          </a:prstGeom>
          <a:noFill/>
          <a:ln w="25400">
            <a:solidFill>
              <a:srgbClr val="8C63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365760" cy="365760"/>
          </a:xfrm>
          <a:prstGeom prst="ellipse">
            <a:avLst/>
          </a:prstGeom>
          <a:solidFill>
            <a:srgbClr val="8C631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TARA basıldı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0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STM32 SCANNING, KIRMIZI/SARI LED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17720" y="1554480"/>
            <a:ext cx="365760" cy="365760"/>
          </a:xfrm>
          <a:prstGeom prst="ellipse">
            <a:avLst/>
          </a:prstGeom>
          <a:solidFill>
            <a:srgbClr val="8C631A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1554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12064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STM → ESP: CAPTURE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2064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0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USART6 (Arduino D0/D1)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331720"/>
            <a:ext cx="365760" cy="365760"/>
          </a:xfrm>
          <a:prstGeom prst="ellipse">
            <a:avLst/>
          </a:prstGeom>
          <a:solidFill>
            <a:srgbClr val="8C631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2286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 5 FPS × 2 s burst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0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× JPEG (~30 KB), flash LED açık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17720" y="2331720"/>
            <a:ext cx="365760" cy="365760"/>
          </a:xfrm>
          <a:prstGeom prst="ellipse">
            <a:avLst/>
          </a:prstGeom>
          <a:solidFill>
            <a:srgbClr val="8C631A"/>
          </a:solidFill>
          <a:ln/>
        </p:spPr>
      </p:sp>
      <p:sp>
        <p:nvSpPr>
          <p:cNvPr id="18" name="Text 16"/>
          <p:cNvSpPr/>
          <p:nvPr/>
        </p:nvSpPr>
        <p:spPr>
          <a:xfrm>
            <a:off x="461772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120640" y="2286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 POST → EC2 /search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2064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0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X-Session-Id, X-Frame-Index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108960"/>
            <a:ext cx="365760" cy="365760"/>
          </a:xfrm>
          <a:prstGeom prst="ellipse">
            <a:avLst/>
          </a:prstGeom>
          <a:solidFill>
            <a:srgbClr val="8C631A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012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Kalite filtresi + centroid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0120" y="3383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0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 ≥ 0.7, blur ≥ 10, ≥ 5 kare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17720" y="3108960"/>
            <a:ext cx="365760" cy="365760"/>
          </a:xfrm>
          <a:prstGeom prst="ellipse">
            <a:avLst/>
          </a:prstGeom>
          <a:solidFill>
            <a:srgbClr val="8C631A"/>
          </a:solidFill>
          <a:ln/>
        </p:spPr>
      </p:sp>
      <p:sp>
        <p:nvSpPr>
          <p:cNvPr id="26" name="Text 24"/>
          <p:cNvSpPr/>
          <p:nvPr/>
        </p:nvSpPr>
        <p:spPr>
          <a:xfrm>
            <a:off x="461772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12064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Cosine sim ≥ 0.40 → MATCH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20640" y="3383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0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ArcFace 512-D, L2 normalize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886200"/>
            <a:ext cx="365760" cy="365760"/>
          </a:xfrm>
          <a:prstGeom prst="ellipse">
            <a:avLst/>
          </a:prstGeom>
          <a:solidFill>
            <a:srgbClr val="8C631A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60120" y="3840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 → STM: RESULT:1;name;sim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60120" y="4160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0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STM MATCH durumuna geçer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17720" y="3886200"/>
            <a:ext cx="365760" cy="365760"/>
          </a:xfrm>
          <a:prstGeom prst="ellipse">
            <a:avLst/>
          </a:prstGeom>
          <a:solidFill>
            <a:srgbClr val="8C631A"/>
          </a:solidFill>
          <a:ln/>
        </p:spPr>
      </p:sp>
      <p:sp>
        <p:nvSpPr>
          <p:cNvPr id="34" name="Text 32"/>
          <p:cNvSpPr/>
          <p:nvPr/>
        </p:nvSpPr>
        <p:spPr>
          <a:xfrm>
            <a:off x="461772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120640" y="3840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BLE notify → iPhone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120640" y="4160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0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tel://155 dialer açılır, 1 dokunuş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9C2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Tipik uçtan uca süre: ~5–7 saniye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7200" y="47548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Ekin Ağaoğlu  ·  Bitirme Sunumu  ·  Veri Akışı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04672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21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8869680" y="0"/>
            <a:ext cx="274320" cy="5143500"/>
          </a:xfrm>
          <a:prstGeom prst="rect">
            <a:avLst/>
          </a:prstGeom>
          <a:solidFill>
            <a:srgbClr val="8C631A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EC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C6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GERÇEKLEME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Donanım Listesi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914400" cy="0"/>
          </a:xfrm>
          <a:prstGeom prst="line">
            <a:avLst/>
          </a:prstGeom>
          <a:noFill/>
          <a:ln w="25400">
            <a:solidFill>
              <a:srgbClr val="8C631A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1371600"/>
                <a:gridCol w="18288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Parça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Adet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2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Fiyat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2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STM32 NUCLEO-F767ZI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(mevcut)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ESP32-CAM AI-Thinker (OV3660)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120 TL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ESP32-CAM-MB programlama dock'u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80 TL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Aktif buzzer 5 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15 TL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 button taktil (PANİK, opsiyonel)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 TL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LED'ler (NUCLEO onboard yeterli)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 TL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Jumper kablo + breadboard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60 TL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1162A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Toplam ek donanım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9C2A2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≈ 280 TL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0A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Plan B'deki HM-10 BLE modülü mimariden çıkarıldı — ESP32-CAM entegre Bluetooth aynı işi tek board üzerinde sağlıyor.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47548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Ekin Ağaoğlu  ·  Bitirme Sunumu  ·  Gerçekleme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04672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21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8869680" y="0"/>
            <a:ext cx="274320" cy="5143500"/>
          </a:xfrm>
          <a:prstGeom prst="rect">
            <a:avLst/>
          </a:prstGeom>
          <a:solidFill>
            <a:srgbClr val="8C631A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EC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C6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GERÇEKLEME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Sunucu — Flask + InsightFace + Auth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914400" cy="0"/>
          </a:xfrm>
          <a:prstGeom prst="line">
            <a:avLst/>
          </a:prstGeom>
          <a:noFill/>
          <a:ln w="25400">
            <a:solidFill>
              <a:srgbClr val="8C63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087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C6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Yığın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3931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1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 · Flask 3 · gunicorn -w 1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1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 m7i-flex.large · eu-central-1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1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konteyneri, /app/data volume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1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Runtime CPU, OpenCV headless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35204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C6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Endpoint'ler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84048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6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/search  — 10-frame burst tanıma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6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/auth/register · /auth/login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116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/auth/me · POST /auth/logout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508760"/>
            <a:ext cx="4023360" cy="1371600"/>
          </a:xfrm>
          <a:prstGeom prst="rect">
            <a:avLst/>
          </a:prstGeom>
          <a:solidFill>
            <a:srgbClr val="11162A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645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C2A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gunicorn -w 1 ZORUNLU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20116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Oturum durumu in-memory, process başına ayrı.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 worker → burst kareleri farklı process'lere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dağılır → centroid agregasyonu kırılır.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63440" y="30175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C6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Kalite filtresi (per-frame)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0" y="333756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116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det_score ≥ 0.7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116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bbox area ≥ 80×80 px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116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|yaw| ≤ 30°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116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Laplacian varyans ≥ 10 (ESP-CAM için)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Ekin Ağaoğlu  ·  Bitirme Sunumu  ·  Sunucu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04672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21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869680" y="0"/>
            <a:ext cx="274320" cy="5143500"/>
          </a:xfrm>
          <a:prstGeom prst="rect">
            <a:avLst/>
          </a:prstGeom>
          <a:solidFill>
            <a:srgbClr val="8C631A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EC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C6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GERÇEKLEME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STM32 Olay Yöneticisi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914400" cy="0"/>
          </a:xfrm>
          <a:prstGeom prst="line">
            <a:avLst/>
          </a:prstGeom>
          <a:noFill/>
          <a:ln w="25400">
            <a:solidFill>
              <a:srgbClr val="8C63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5448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1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Cortex-M7 @ 216 MHz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1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HSI×PLL (HSE_VALUE makro tuzağı bypass)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1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USART6 (Arduino D0/D1, PG9/PG14), 115200 8N1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1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EXTI13 = TARA (B1 USER), EXTI0 = PANİK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1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FSM: IDLE / SCANNING / MATCH / NOMATCH / PANIC / NETERR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1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PANIC her durumdan erişilebilir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303520" y="1554480"/>
            <a:ext cx="3383280" cy="24688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3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0" y="16916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C6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Host-side birim test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0" y="2057400"/>
            <a:ext cx="3017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1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HAL'dan soyutlanmış taşınabilir C99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1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 vtable: LED, buzzer, UART, clock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1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 -O2 -Wall ile PC'de derlenir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9C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senaryo deterministik geçer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i="1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donanım üzerinde flash–flash döngüsü minimize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4114800"/>
            <a:ext cx="8229600" cy="594360"/>
          </a:xfrm>
          <a:prstGeom prst="rect">
            <a:avLst/>
          </a:prstGeom>
          <a:solidFill>
            <a:srgbClr val="2A3047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416052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2A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HSE_VALUE bug: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stm32f7xx_hal_conf.h'da 25 MHz tanımlı, NUCLEO'da gerçek HSE 8 MHz. HSE üzerinden PLL → HAL'in UART BRR hesabı 1/3 oranında bozuluyor. Çözüm: HSI 16 MHz × PLL_M=8 × N=216 / P=2 → SYSCLK 216 MHz, BRR doğru.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7548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Ekin Ağaoğlu  ·  Bitirme Sunumu  ·  STM32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04672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21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869680" y="0"/>
            <a:ext cx="274320" cy="5143500"/>
          </a:xfrm>
          <a:prstGeom prst="rect">
            <a:avLst/>
          </a:prstGeom>
          <a:solidFill>
            <a:srgbClr val="8C631A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EC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C6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GERÇEKLEME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ESP32-CAM — Kamera + Wi-Fi + BLE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914400" cy="0"/>
          </a:xfrm>
          <a:prstGeom prst="line">
            <a:avLst/>
          </a:prstGeom>
          <a:noFill/>
          <a:ln w="25400">
            <a:solidFill>
              <a:srgbClr val="8C63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5448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1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AI-Thinker modülü, ESP32-WROOM-32 SoC, OV3660 sensör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1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PlatformIO + Arduino-ESP32 framework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1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STA (sürücü hotspot) → HTTP POST /search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1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peripheral “TaxiGuard”: servis FFE0, char FFE1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1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 telefon-yön mesajlarını BLE notify'a forward eder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760720" y="1554480"/>
            <a:ext cx="3017520" cy="1371600"/>
          </a:xfrm>
          <a:prstGeom prst="rect">
            <a:avLst/>
          </a:prstGeom>
          <a:solidFill>
            <a:srgbClr val="9C2A21"/>
          </a:solidFill>
          <a:ln/>
        </p:spPr>
      </p:sp>
      <p:sp>
        <p:nvSpPr>
          <p:cNvPr id="7" name="Text 5"/>
          <p:cNvSpPr/>
          <p:nvPr/>
        </p:nvSpPr>
        <p:spPr>
          <a:xfrm>
            <a:off x="5852160" y="16459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MTU 247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852160" y="205740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Varsayılan ATT MTU 23 → payload 20 byte. MATCH:Name;0.66 satırı 2 pakete bölünüyor, parser similarity 0 görüyor. setMTU(247) fix.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760720" y="3108960"/>
            <a:ext cx="3017520" cy="1325880"/>
          </a:xfrm>
          <a:prstGeom prst="rect">
            <a:avLst/>
          </a:prstGeom>
          <a:solidFill>
            <a:srgbClr val="11162A"/>
          </a:solidFill>
          <a:ln/>
        </p:spPr>
      </p:sp>
      <p:sp>
        <p:nvSpPr>
          <p:cNvPr id="10" name="Text 8"/>
          <p:cNvSpPr/>
          <p:nvPr/>
        </p:nvSpPr>
        <p:spPr>
          <a:xfrm>
            <a:off x="5852160" y="32004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8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Güç notu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852160" y="35661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Kamera + Wi-Fi + BLE eşzamanlı ≈ 500 mA pik. STM 5 V pininden besleme brown-out reset'e yol açar — ESP-CAM ayrı USB kaynağından beslenir.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47548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Ekin Ağaoğlu  ·  Bitirme Sunumu  ·  ESP32-CAM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04672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21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869680" y="0"/>
            <a:ext cx="274320" cy="5143500"/>
          </a:xfrm>
          <a:prstGeom prst="rect">
            <a:avLst/>
          </a:prstGeom>
          <a:solidFill>
            <a:srgbClr val="8C631A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EC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C6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GERÇEKLEME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iPhone Uygulaması — TaksiGuvenlik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914400" cy="0"/>
          </a:xfrm>
          <a:prstGeom prst="line">
            <a:avLst/>
          </a:prstGeom>
          <a:noFill/>
          <a:ln w="25400">
            <a:solidFill>
              <a:srgbClr val="8C63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0876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1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SwiftUI · iOS 17 · @Observable macro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1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CoreBluetooth central role, “TaxiGuard”a otomatik bağlanır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1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AuthManager: URLSession async REST + Keychain token cache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1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RootView: auth durumuna göre Login / Register / Home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1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HomeView: TabView (Ana Sayfa · Tarama · Profil)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760720" y="1554480"/>
            <a:ext cx="3017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0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97880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6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 Sayfa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897880" y="1920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Selamlama, plaka, sistem durumu özet kartı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760720" y="2423160"/>
            <a:ext cx="3017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0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97880" y="2514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6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Tarama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897880" y="2788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Canlı renkli durum kartı + olay günlüğü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760720" y="3291840"/>
            <a:ext cx="30175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0A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97880" y="3383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63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897880" y="3657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bilgisi + Çıkış Yap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16052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2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sandbox tam-otomatik aramaya izin vermez:</a:t>
            </a:r>
            <a:pPr indent="0" marL="0">
              <a:buNone/>
            </a:pPr>
            <a:r>
              <a:rPr lang="en-US" sz="1100" dirty="0">
                <a:solidFill>
                  <a:srgbClr val="11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UIApplication.shared.open(URL("tel://155")) → dialer açılır, sürücü 1 tıkla onaylar. Tek dokunuş ≡ yanlış pozitif arama koruması.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7548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Ekin Ağaoğlu  ·  Bitirme Sunumu  ·  iPhone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04672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21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869680" y="0"/>
            <a:ext cx="274320" cy="5143500"/>
          </a:xfrm>
          <a:prstGeom prst="rect">
            <a:avLst/>
          </a:prstGeom>
          <a:solidFill>
            <a:srgbClr val="8C631A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EC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C6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Kullanıcı Yönetimi Akışı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914400" cy="0"/>
          </a:xfrm>
          <a:prstGeom prst="line">
            <a:avLst/>
          </a:prstGeom>
          <a:noFill/>
          <a:ln w="25400">
            <a:solidFill>
              <a:srgbClr val="8C63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28800"/>
            <a:ext cx="1554480" cy="1097280"/>
          </a:xfrm>
          <a:prstGeom prst="rect">
            <a:avLst/>
          </a:prstGeom>
          <a:solidFill>
            <a:srgbClr val="11162A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9659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Uygulama açılır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11680" y="2377440"/>
            <a:ext cx="91440" cy="0"/>
          </a:xfrm>
          <a:prstGeom prst="line">
            <a:avLst/>
          </a:prstGeom>
          <a:noFill/>
          <a:ln w="25400">
            <a:solidFill>
              <a:srgbClr val="11162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103120" y="1828800"/>
            <a:ext cx="1554480" cy="1097280"/>
          </a:xfrm>
          <a:prstGeom prst="rect">
            <a:avLst/>
          </a:prstGeom>
          <a:solidFill>
            <a:srgbClr val="2A3047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194560" y="19659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Keychain'de token?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94560" y="2606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evet ↗ / hayır ↘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0" y="2377440"/>
            <a:ext cx="91440" cy="0"/>
          </a:xfrm>
          <a:prstGeom prst="line">
            <a:avLst/>
          </a:prstGeom>
          <a:noFill/>
          <a:ln w="25400">
            <a:solidFill>
              <a:srgbClr val="11162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749040" y="1828800"/>
            <a:ext cx="1554480" cy="1097280"/>
          </a:xfrm>
          <a:prstGeom prst="rect">
            <a:avLst/>
          </a:prstGeom>
          <a:solidFill>
            <a:srgbClr val="8C631A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40480" y="19659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/auth/me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40480" y="2606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doğrula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303520" y="2377440"/>
            <a:ext cx="91440" cy="0"/>
          </a:xfrm>
          <a:prstGeom prst="line">
            <a:avLst/>
          </a:prstGeom>
          <a:noFill/>
          <a:ln w="25400">
            <a:solidFill>
              <a:srgbClr val="11162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394960" y="1828800"/>
            <a:ext cx="1554480" cy="1097280"/>
          </a:xfrm>
          <a:prstGeom prst="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0" y="19659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 → HomeView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0" y="2606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TabView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49440" y="2377440"/>
            <a:ext cx="91440" cy="0"/>
          </a:xfrm>
          <a:prstGeom prst="line">
            <a:avLst/>
          </a:prstGeom>
          <a:noFill/>
          <a:ln w="25400">
            <a:solidFill>
              <a:srgbClr val="11162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040880" y="1828800"/>
            <a:ext cx="1554480" cy="1097280"/>
          </a:xfrm>
          <a:prstGeom prst="rect">
            <a:avLst/>
          </a:prstGeom>
          <a:solidFill>
            <a:srgbClr val="9C2A21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132320" y="19659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 / Register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132320" y="2606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kayıt ol → token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3291840"/>
            <a:ext cx="8321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8C6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Sunucu: 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1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users.db · werkzeug PBKDF2-SHA256 600k iter · secrets.token_urlsafe(32) bearer token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8C6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Plaka: 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1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^\d{2}\s?[A-Z]{1,3}\s?\d{2,4}$ — “34 ABC 1234” formatı, istemci + sunucu çift doğrulama, plaka unique değil.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8C6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iPhone: 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1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+ username + plate iOS Keychain'de; bootstrap'ta /auth/me ile sessiz doğrulama, network hatası kullanıcı oturumunu silmez.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7548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Ekin Ağaoğlu  ·  Bitirme Sunumu  ·  Auth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04672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21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869680" y="0"/>
            <a:ext cx="274320" cy="5143500"/>
          </a:xfrm>
          <a:prstGeom prst="rect">
            <a:avLst/>
          </a:prstGeom>
          <a:solidFill>
            <a:srgbClr val="8C631A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EC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C6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ÖLÇÜM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Ölçüm Harness'ı — eval/far_frr.py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914400" cy="0"/>
          </a:xfrm>
          <a:prstGeom prst="line">
            <a:avLst/>
          </a:prstGeom>
          <a:noFill/>
          <a:ln w="25400">
            <a:solidFill>
              <a:srgbClr val="8C63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08760"/>
            <a:ext cx="8229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1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seti klasörünü (gallery + genuine + impostor) tarar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1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fotoğrafı 10-frame burst olarak /search'e gönderir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1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skorlarını CSV'ye yazar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1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Eşik τ ∈ [0, 1] üzerinde 0.01 adım sweep → FAR/FRR tablosu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1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 eşiği ve FAR ≤ 1% operating point'i raporlar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1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varsa FAR–FRR (ROC) eğrisini PNG'e basar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3657600"/>
            <a:ext cx="8229600" cy="1005840"/>
          </a:xfrm>
          <a:prstGeom prst="rect">
            <a:avLst/>
          </a:prstGeom>
          <a:solidFill>
            <a:srgbClr val="11162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7490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86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Çıktılar  →  tez Bölüm 5 tablolarına doğrudan kaynak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&lt;run&gt;.csv </a:t>
            </a:r>
            <a:pPr indent="0" marL="0">
              <a:buNone/>
            </a:pPr>
            <a:r>
              <a:rPr lang="en-US" sz="1000" dirty="0">
                <a:solidFill>
                  <a:srgbClr val="B8B8C8"/>
                </a:solidFill>
              </a:rPr>
              <a:t>her probe satırı  ·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&lt;run&gt;_sweep.csv </a:t>
            </a:r>
            <a:pPr indent="0" marL="0">
              <a:buNone/>
            </a:pPr>
            <a:r>
              <a:rPr lang="en-US" sz="1000" dirty="0">
                <a:solidFill>
                  <a:srgbClr val="B8B8C8"/>
                </a:solidFill>
              </a:rPr>
              <a:t>eşik tablosu  ·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&lt;run&gt;_summary.json </a:t>
            </a:r>
            <a:pPr indent="0" marL="0">
              <a:buNone/>
            </a:pPr>
            <a:r>
              <a:rPr lang="en-US" sz="1000" dirty="0">
                <a:solidFill>
                  <a:srgbClr val="B8B8C8"/>
                </a:solidFill>
              </a:rPr>
              <a:t>EER + op. point  ·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&lt;run&gt;_roc.png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47548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Ekin Ağaoğlu  ·  Bitirme Sunumu  ·  Ölçüm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4672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869680" y="0"/>
            <a:ext cx="274320" cy="5143500"/>
          </a:xfrm>
          <a:prstGeom prst="rect">
            <a:avLst/>
          </a:prstGeom>
          <a:solidFill>
            <a:srgbClr val="8C631A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EC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C6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ÖLÇÜM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Ölçüm Planı — Üç Eksen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914400" cy="0"/>
          </a:xfrm>
          <a:prstGeom prst="line">
            <a:avLst/>
          </a:prstGeom>
          <a:noFill/>
          <a:ln w="25400">
            <a:solidFill>
              <a:srgbClr val="8C63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26517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0A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54480"/>
            <a:ext cx="2651760" cy="365760"/>
          </a:xfrm>
          <a:prstGeom prst="rect">
            <a:avLst/>
          </a:prstGeom>
          <a:solidFill>
            <a:srgbClr val="11162A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59105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B886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Eksen 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Aydınlatma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lx · alacakaranlık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lx · ofis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lx · gün ışığı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554480"/>
            <a:ext cx="26517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0A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554480"/>
            <a:ext cx="2651760" cy="365760"/>
          </a:xfrm>
          <a:prstGeom prst="rect">
            <a:avLst/>
          </a:prstGeom>
          <a:solidFill>
            <a:srgbClr val="11162A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159105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B886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Eksen 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29000" y="2103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Mesafe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29000" y="260604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30–60 cm · yakın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60–90 cm · orta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90–120 cm · uzak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1554480"/>
            <a:ext cx="26517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0A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554480"/>
            <a:ext cx="2651760" cy="365760"/>
          </a:xfrm>
          <a:prstGeom prst="rect">
            <a:avLst/>
          </a:prstGeom>
          <a:solidFill>
            <a:srgbClr val="11162A"/>
          </a:solidFill>
          <a:ln/>
        </p:spPr>
      </p:sp>
      <p:sp>
        <p:nvSpPr>
          <p:cNvPr id="17" name="Text 15"/>
          <p:cNvSpPr/>
          <p:nvPr/>
        </p:nvSpPr>
        <p:spPr>
          <a:xfrm>
            <a:off x="6172200" y="159105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B886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Eksen 03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217920" y="2103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Pasif canlılık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217920" y="260604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yüz vs.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ekran replay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(cross-frame σ)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seti: ekip + gönüllüler (5–8 kişi), sergi takvimi içinde uygulanabilir kapsam.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7548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Ekin Ağaoğlu  ·  Bitirme Sunumu  ·  Ölçüm Planı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04672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21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869680" y="0"/>
            <a:ext cx="274320" cy="5143500"/>
          </a:xfrm>
          <a:prstGeom prst="rect">
            <a:avLst/>
          </a:prstGeom>
          <a:solidFill>
            <a:srgbClr val="8C631A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1EC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C6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DURUM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Mevcut Çalışma Durumu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914400" cy="0"/>
          </a:xfrm>
          <a:prstGeom prst="line">
            <a:avLst/>
          </a:prstGeom>
          <a:noFill/>
          <a:ln w="25400">
            <a:solidFill>
              <a:srgbClr val="8C63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C2A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1508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EC2 sunucu (/search + /auth) canlı, smoke test OK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617720" y="1508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C2A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0" y="1508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ESP32-CAM Wi-Fi + HTTP POST + JSON parse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C2A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ESP32-CAM BLE “TaxiGuard” advertising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1772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C2A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 HSI×PLL 216 MHz + USART6 köprüsü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C2A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2423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 state machine — 12/12 host-side test geçti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1772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C2A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0" y="2423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 Login/Register/TabView + Keychain (kod hazır)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C2A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" y="2880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Uçtan uca: B1 → MATCH → tel:// dialer (Gokturk+Ekin)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1772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C6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○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0" y="2880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 MTU 247 fix cihazda doğrulama (push'lu commit)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C6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○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68680" y="3337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 yeni auth UI Xcode ilk build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1772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0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29200" y="3337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FAR/FRR ölçümü (20–30 kişi)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0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68680" y="3794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Aydınlatma + mesafe testleri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1772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0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29200" y="3794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öncesi emergencyNumber → 155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47548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Ekin Ağaoğlu  ·  Bitirme Sunumu  ·  Durum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04672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21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869680" y="0"/>
            <a:ext cx="274320" cy="5143500"/>
          </a:xfrm>
          <a:prstGeom prst="rect">
            <a:avLst/>
          </a:prstGeom>
          <a:solidFill>
            <a:srgbClr val="8C631A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1EC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C6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SONUÇ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Özgün Katkılar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914400" cy="0"/>
          </a:xfrm>
          <a:prstGeom prst="line">
            <a:avLst/>
          </a:prstGeom>
          <a:noFill/>
          <a:ln w="25400">
            <a:solidFill>
              <a:srgbClr val="8C63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08760"/>
            <a:ext cx="457200" cy="457200"/>
          </a:xfrm>
          <a:prstGeom prst="ellipse">
            <a:avLst/>
          </a:prstGeom>
          <a:solidFill>
            <a:srgbClr val="11162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86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508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InsightFace + ESP32-CAM entegrasyonu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8745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Açık kaynak yüz tanıma motoru küçük gömülü donanımla taksi senaryosuna uyarlandı.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17720" y="1508760"/>
            <a:ext cx="457200" cy="457200"/>
          </a:xfrm>
          <a:prstGeom prst="ellipse">
            <a:avLst/>
          </a:prstGeom>
          <a:solidFill>
            <a:srgbClr val="11162A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86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166360" y="1508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Tek board · kamera + Wi-Fi + BLE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66360" y="18745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ESP32-CAM'in entegre Bluetooth'u sayesinde ek BLE modülü (HM-10) gereksiz kaldı.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457200" cy="457200"/>
          </a:xfrm>
          <a:prstGeom prst="ellipse">
            <a:avLst/>
          </a:prstGeom>
          <a:solidFill>
            <a:srgbClr val="11162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86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2560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Bedava pasif canlılık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29260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Cross-frame embedding standart sapması ile ek model yükü olmadan replay tespiti.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17720" y="2560320"/>
            <a:ext cx="457200" cy="457200"/>
          </a:xfrm>
          <a:prstGeom prst="ellipse">
            <a:avLst/>
          </a:prstGeom>
          <a:solidFill>
            <a:srgbClr val="11162A"/>
          </a:solidFill>
          <a:ln/>
        </p:spPr>
      </p:sp>
      <p:sp>
        <p:nvSpPr>
          <p:cNvPr id="18" name="Text 16"/>
          <p:cNvSpPr/>
          <p:nvPr/>
        </p:nvSpPr>
        <p:spPr>
          <a:xfrm>
            <a:off x="461772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86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66360" y="2560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Taşınabilir STM32 durum makinesi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66360" y="29260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HAL'dan soyutlanmış, host-side birim testten geçen C99 modülü.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611880"/>
            <a:ext cx="457200" cy="457200"/>
          </a:xfrm>
          <a:prstGeom prst="ellipse">
            <a:avLst/>
          </a:prstGeom>
          <a:solidFill>
            <a:srgbClr val="11162A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86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3611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Hafif kullanıcı kaydı altyapısı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05840" y="39776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+ werkzeug + secrets — ek bağımlılık gerektirmeyen auth katmanı.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17720" y="3611880"/>
            <a:ext cx="457200" cy="457200"/>
          </a:xfrm>
          <a:prstGeom prst="ellipse">
            <a:avLst/>
          </a:prstGeom>
          <a:solidFill>
            <a:srgbClr val="11162A"/>
          </a:solidFill>
          <a:ln/>
        </p:spPr>
      </p:sp>
      <p:sp>
        <p:nvSpPr>
          <p:cNvPr id="26" name="Text 24"/>
          <p:cNvSpPr/>
          <p:nvPr/>
        </p:nvSpPr>
        <p:spPr>
          <a:xfrm>
            <a:off x="461772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86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66360" y="3611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Tekrarlanabilir FAR/FRR ölçüm aracı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66360" y="39776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eval/far_frr.py ile tablolar otomatik üretilir, tezin Bölüm 5'i bu çıktılardan beslenir.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7548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Ekin Ağaoğlu  ·  Bitirme Sunumu  ·  Özgün Katkılar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04672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21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869680" y="0"/>
            <a:ext cx="274320" cy="5143500"/>
          </a:xfrm>
          <a:prstGeom prst="rect">
            <a:avLst/>
          </a:prstGeom>
          <a:solidFill>
            <a:srgbClr val="8C631A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1EC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C63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SONUÇ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Gelecek Çalışmalar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914400" cy="0"/>
          </a:xfrm>
          <a:prstGeom prst="line">
            <a:avLst/>
          </a:prstGeom>
          <a:noFill/>
          <a:ln w="25400">
            <a:solidFill>
              <a:srgbClr val="8C63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08760"/>
            <a:ext cx="164592" cy="411480"/>
          </a:xfrm>
          <a:prstGeom prst="rect">
            <a:avLst/>
          </a:prstGeom>
          <a:solidFill>
            <a:srgbClr val="8C631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087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Faz 2 — HTTPS + sertleştirme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23360" y="15087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Caddy/nginx + Let's Encrypt, SHARED_SECRET aktif, token süresi (örn. 30 gün)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164592" cy="411480"/>
          </a:xfrm>
          <a:prstGeom prst="rect">
            <a:avLst/>
          </a:prstGeom>
          <a:solidFill>
            <a:srgbClr val="8C631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0116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Android istemcisi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23360" y="20116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Intent.ACTION_CALL ile tek-dokunuşsuz çağrı + 5 s iptal geri sayımı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514600"/>
            <a:ext cx="164592" cy="411480"/>
          </a:xfrm>
          <a:prstGeom prst="rect">
            <a:avLst/>
          </a:prstGeom>
          <a:solidFill>
            <a:srgbClr val="8C631A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5146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inference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023360" y="25146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ESP32-S3 üzerinde nicemlenmiş ön-eleme, bulut maliyetinde düşüş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164592" cy="411480"/>
          </a:xfrm>
          <a:prstGeom prst="rect">
            <a:avLst/>
          </a:prstGeom>
          <a:solidFill>
            <a:srgbClr val="8C631A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017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Filo entegrasyonu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023360" y="30175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MQTT/WebSocket olay panosu, plaka eşleme yönetimi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520440"/>
            <a:ext cx="164592" cy="411480"/>
          </a:xfrm>
          <a:prstGeom prst="rect">
            <a:avLst/>
          </a:prstGeom>
          <a:solidFill>
            <a:srgbClr val="8C631A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5204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Aktif canlılık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023360" y="35204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Arka koltukta sessiz kafa-jest doğrulaması, 3B maske direnci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023360"/>
            <a:ext cx="164592" cy="411480"/>
          </a:xfrm>
          <a:prstGeom prst="rect">
            <a:avLst/>
          </a:prstGeom>
          <a:solidFill>
            <a:srgbClr val="8C631A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0233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Yasal çerçeve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023360" y="40233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KVKK açık rıza prosedürü, yetkili veri tabanı erişimi, yolcu bilgilendirme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7548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Ekin Ağaoğlu  ·  Bitirme Sunumu  ·  Gelecek Çalışmalar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04672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21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869680" y="0"/>
            <a:ext cx="274320" cy="5143500"/>
          </a:xfrm>
          <a:prstGeom prst="rect">
            <a:avLst/>
          </a:prstGeom>
          <a:solidFill>
            <a:srgbClr val="8C631A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116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0"/>
            <a:ext cx="548640" cy="5143500"/>
          </a:xfrm>
          <a:prstGeom prst="rect">
            <a:avLst/>
          </a:prstGeom>
          <a:solidFill>
            <a:srgbClr val="8C63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5544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spc="8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TEŞEKKÜRLER</a:t>
            </a:r>
            <a:endParaRPr lang="en-US" sz="5600" dirty="0"/>
          </a:p>
        </p:txBody>
      </p:sp>
      <p:sp>
        <p:nvSpPr>
          <p:cNvPr id="4" name="Shape 2"/>
          <p:cNvSpPr/>
          <p:nvPr/>
        </p:nvSpPr>
        <p:spPr>
          <a:xfrm>
            <a:off x="3657600" y="2606040"/>
            <a:ext cx="1371600" cy="0"/>
          </a:xfrm>
          <a:prstGeom prst="line">
            <a:avLst/>
          </a:prstGeom>
          <a:noFill/>
          <a:ln w="25400">
            <a:solidFill>
              <a:srgbClr val="8C63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7889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B88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Sorular?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Ekin Ağaoğlu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B8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Danışman: Prof. Dr. Aydoğan Savran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0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Ege Üniversitesi · EE Bölümü · 2025–2026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Ege Üniversitesi · Elektrik-Elektronik Mühendisliği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Yüz Tanıma Tabanlı Sürücü Güvenlik ve Acil Durum Bildirim Sistemi</dc:title>
  <dc:subject>PptxGenJS Presentation</dc:subject>
  <dc:creator>Ekin Ağaoğlu</dc:creator>
  <cp:lastModifiedBy>Ekin Ağaoğlu</cp:lastModifiedBy>
  <cp:revision>1</cp:revision>
  <dcterms:created xsi:type="dcterms:W3CDTF">2026-05-16T15:21:21Z</dcterms:created>
  <dcterms:modified xsi:type="dcterms:W3CDTF">2026-05-16T15:21:21Z</dcterms:modified>
</cp:coreProperties>
</file>